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A54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141D3D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572000"/>
            <a:ext cx="4114800" cy="4114800"/>
          </a:xfrm>
          <a:prstGeom prst="ellipse">
            <a:avLst/>
          </a:prstGeom>
          <a:solidFill>
            <a:srgbClr val="141D3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685800"/>
            <a:ext cx="1005840" cy="1005840"/>
          </a:xfrm>
          <a:prstGeom prst="ellipse">
            <a:avLst/>
          </a:prstGeom>
          <a:solidFill>
            <a:srgbClr val="C9A237"/>
          </a:solidFill>
          <a:ln/>
        </p:spPr>
      </p:sp>
      <p:pic>
        <p:nvPicPr>
          <p:cNvPr id="6" name="Image 0" descr="/home/claude/sva_ppt/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927202"/>
            <a:ext cx="523037" cy="5230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CBSE CLASS X  •  ENGLISH CORE  •  GRAMMAR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Subject–Verb Agreement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Rule-by-Rule Guide — 20 Rules, Fully Explained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41248" y="4343400"/>
            <a:ext cx="1828800" cy="0"/>
          </a:xfrm>
          <a:prstGeom prst="line">
            <a:avLst/>
          </a:prstGeom>
          <a:noFill/>
          <a:ln w="25400">
            <a:solidFill>
              <a:srgbClr val="C9A2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52628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gets its own dedicated slide with clear definitions,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correct/incorrect examples, and exam-focused tips —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practice questions and a full answer key at the end.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classroom teaching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Subject–Verb Agreement?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(also called Concord) means that the </a:t>
            </a:r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and the verb of a sentence must match 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number and person.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words: a singular subject always takes a singular verb, and a plural subject always takes a plural verb. Get this wrong, and even a beautifully written sentence sounds incorrect. This deck breaks the concept into 20 individual rules — study them one at a time.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6492240" cy="594360"/>
          </a:xfrm>
          <a:prstGeom prst="roundRect">
            <a:avLst>
              <a:gd name="adj" fmla="val 12308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4261104"/>
            <a:ext cx="457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4251960"/>
            <a:ext cx="5715000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 writes  neatly.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4562856"/>
            <a:ext cx="571500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subject → singular verb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6492240" cy="594360"/>
          </a:xfrm>
          <a:prstGeom prst="roundRect">
            <a:avLst>
              <a:gd name="adj" fmla="val 12308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4946904"/>
            <a:ext cx="457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4937760"/>
            <a:ext cx="5715000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students  write  neatly.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5248656"/>
            <a:ext cx="571500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subject → plural verb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577840"/>
            <a:ext cx="6492240" cy="594360"/>
          </a:xfrm>
          <a:prstGeom prst="roundRect">
            <a:avLst>
              <a:gd name="adj" fmla="val 12308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5632704"/>
            <a:ext cx="457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5623560"/>
            <a:ext cx="5715000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 write  neatly.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5934456"/>
            <a:ext cx="571500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and verb do not agree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60920" y="1691640"/>
            <a:ext cx="4297680" cy="4480560"/>
          </a:xfrm>
          <a:prstGeom prst="roundRect">
            <a:avLst>
              <a:gd name="adj" fmla="val 2128"/>
            </a:avLst>
          </a:prstGeom>
          <a:solidFill>
            <a:srgbClr val="F6F8FC"/>
          </a:solidFill>
          <a:ln/>
        </p:spPr>
      </p:sp>
      <p:sp>
        <p:nvSpPr>
          <p:cNvPr id="21" name="Shape 19"/>
          <p:cNvSpPr/>
          <p:nvPr/>
        </p:nvSpPr>
        <p:spPr>
          <a:xfrm>
            <a:off x="7680960" y="1965960"/>
            <a:ext cx="685800" cy="685800"/>
          </a:xfrm>
          <a:prstGeom prst="ellipse">
            <a:avLst/>
          </a:prstGeom>
          <a:solidFill>
            <a:srgbClr val="1E2A54"/>
          </a:solidFill>
          <a:ln/>
        </p:spPr>
      </p:sp>
      <p:pic>
        <p:nvPicPr>
          <p:cNvPr id="22" name="Image 0" descr="/home/claude/sva_ppt/icons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5552" y="2130552"/>
            <a:ext cx="356616" cy="35661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54964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680960" y="2880360"/>
            <a:ext cx="3703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Carries direct marks in Grammar sections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Appears inside editing &amp; omission exercises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Affects clarity in your writing tasks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basic skill examiners expect to be error-free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680960" y="4754880"/>
            <a:ext cx="3703320" cy="1280160"/>
          </a:xfrm>
          <a:prstGeom prst="roundRect">
            <a:avLst>
              <a:gd name="adj" fmla="val 5714"/>
            </a:avLst>
          </a:prstGeom>
          <a:solidFill>
            <a:srgbClr val="1E2A54"/>
          </a:solidFill>
          <a:ln/>
        </p:spPr>
      </p:sp>
      <p:sp>
        <p:nvSpPr>
          <p:cNvPr id="26" name="Text 23"/>
          <p:cNvSpPr/>
          <p:nvPr/>
        </p:nvSpPr>
        <p:spPr>
          <a:xfrm>
            <a:off x="7882128" y="4864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882128" y="5120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SUBJECT that decides the verb form — never the word that simply sits closest to the verb.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Golden Rule of Agreement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in this deck is simply this one principle applied to a trickier subject. Master this first.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SUBJECT  →  SINGULAR VERB (+s/es)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 cricket every evening.
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dog 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barks  at strangers.
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sings  beautifully.
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Principal 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 present at the function.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BF3E2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SUBJECT  →  PLURAL VERB (base form)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92240" y="292608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and Sohan 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 cricket every evening.
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dogs 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bark  at strangers.
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  beautifully.
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teachers 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 present at the function.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61996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For present-tense verbs, an 's/es' on the verb usually signals a SINGULAR subject — the opposite of the noun rule!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 Subjects Joined by 'And'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subjects joined by "and" form a plural subject and take a PLURAL verb.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054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496312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and Priya  are  going to Jaipur.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3697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3282696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Principal and the teachers  were  present at the meeting.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4078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4069080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brother and I  play  chess every Sunday.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097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4864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4855464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and Priya  is  going to Jaipur.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5204765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two subjects joined by 'and' need a plural verb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6509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BF3E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742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9984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"And" almost always adds subjects together — think of it as a plus sign that creates a plural total.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'And' Joining One Combined Idea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to Rule 1: when two nouns joined by "and" refer to ONE person, thing, or idea acting as a single unit, use a SINGULAR verb.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054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496312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and steady  wins  the race.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845613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combined idea, not two separate runners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3282696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 and butter  is  his only breakfast.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631997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dish/meal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4078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4069080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Chairman and Managing Director  is  arriving today.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418381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holding two roles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8097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4864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43000" y="4855464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 and butter  are  his only breakfast.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5204765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treated wrongly as two separate items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6509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BF3E2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742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DECIDE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59984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are these truly TWO separate things, or ONE combined idea described by two words? One idea → singular verb.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'Each' / 'Every' Before a Compound Subject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"each" or "every" comes before two or more subjects joined by "and", the verb stays SINGULAR — even though "and" is present.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054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496312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boy and each girl  has  received a prize.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3697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3282696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man, woman, and child  was  given a blanket.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4078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4069080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and each teacher  is  expected to attend.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097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4864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4855464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boy and each girl  have  received a prize.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5204765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'each' forces a singular verb, overriding 'and'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6509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BF3E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742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9984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'Each' and 'every' emphasise individuals one at a time, so the subject is treated as singular no matter how many items are joined by 'and'.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'Or' / 'Nor' — Verb Agrees with the Nearer Subject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subjects are joined by "or" or "nor", the verb agrees with the subject NEARER to it, not the one farther away.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054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496312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the pen or the pencils  are  on the desk.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845613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nearer subject 'pencils' is plural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3282696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the pencils or the pen  is  on the desk.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631997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nearer subject 'pen' is singular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4078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4069080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or the students  have  the answer.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418381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nearer subject 'students' is plural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8097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4864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43000" y="4855464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the pen or the pencils  is  on the desk.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5204765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verb must match 'pencils', the nearer subject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6509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1E2A54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742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PROXIMITY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59984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as a habit: "the verb obeys the subject closest to it."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'Either…Or' / 'Neither…Nor' — Nearer Subject &amp; Person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proximity rule applies to "either…or" and "neither…nor" — including when the nearer subject changes the PERSON of the verb (I / you / he).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054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496312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the teacher nor the students  were  late.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845613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nearer = 'students' (plural)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3282696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the students nor the teacher  was  late.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631997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nearer = 'teacher' (singular)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4078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4069080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Amit nor I  am  responsible for this.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418381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nearer = 'I' → am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8097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4864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43000" y="4855464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Amit nor I  is  responsible for this.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5204765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verb must match 'I', not 'Amit'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6509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BF3E2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742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59984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'I' is the nearer subject, the verb becomes 'am' — a case many students miss.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Collective Nouns Acting as One Unit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collective noun (team, family, class, jury, committee, army, government) takes a SINGULAR verb when the group acts together as a single whole.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054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496312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 is  practising for the finals.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3697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3282696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class  was  the best decorated one this year.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4078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4069080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jury  has  announced its verdict.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097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4864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4855464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jury  have  announced its verdict.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5204765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preferred in CBSE answers: treat as one unit unless stated otherwise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6509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BF3E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742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TIP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9984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Unless the sentence clearly shows individuals disagreeing or acting separately, treat collective nouns as SINGULAR — it is the safer default.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Collective Nouns Acting as Separate Individuals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collective nouns take a PLURAL verb when the members of the group are acting, thinking, or deciding as separate individuals.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054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496312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 are  arguing among themselves.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845613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disagreeing separately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3282696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jury  are  divided in their opinions.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4078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4069080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committee  are  signing the form separately, one by one.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8097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4864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43000" y="4855464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 is  arguing among themselves.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5204765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sentence clearly shows individual, separate action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6509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BF3E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742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DECIDE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" y="59984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clue words like 'among themselves', 'divided', 'separately' — they signal individual action and a plural verb.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Indefinite Pronouns Are Always Singular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like each, every, either, neither, one, someone, anybody, everybody, nobody, everything are always SINGULAR, even when followed by a plural-looking phrase.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054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496312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boys  has  a bicycle.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3697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3282696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Everybody  wants  to succeed in life.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4078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4069080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of the answers  is  correct.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097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4864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4855464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boys  have  a bicycle.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5204765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'each' is always singular, regardless of 'boys'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6509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BF3E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742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9984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• every • either • neither • one • someone • anyone • everyone • no one • nobody • somebody • anybody • everybody • something • anything • everything • nothing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Nouns Plural in Form but Singular in Meaning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nouns end in 's' and look plural, but they name ONE subject of study, one game, or one disease — so they take a SINGULAR verb.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054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496312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 is  my favourite subject.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845613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of study: Mathematics, Physics, Economics, Civics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3282696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news  was  shocking for everyone.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4078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4069080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Measles  is  a contagious disease.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418381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Mumps, Rickets, Diabetes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8097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4864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3000" y="4855464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 are  my favourite subject.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5204765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treated as one subject name, not many items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6509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BF3E2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742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SINGULAR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59984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named this way: Athletics, Billiards, Carrom — e.g. "Athletics is his passion."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Plural (Pair) Nouns Are Always Plural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 naming objects made of two joined parts — scissors, trousers, spectacles, jeans, tongs, pliers — are TRUE plurals and always take a PLURAL verb.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054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496312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scissors  are  very sharp.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3697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3282696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trousers  are  torn at the knee.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4078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4069080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spectacles  are  lying on the table.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097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4864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4855464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scissors  is  very sharp.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5204765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pair-object nouns are always plural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6509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BF3E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742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WITH RULE 9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9984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9 nouns (Mathematics, News) LOOK plural but ARE singular. Rule 10 nouns (scissors, trousers) look plural and ARE plural — don't confuse the two!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Interrupting Phrases Don't Change the Subject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Phrases like "with", "along with", "as well as", "together with", "in addition to", "besides", and "except" do NOT change the number of the subject.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054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496312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teacher, along with her students,  is  visiting the museum.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845613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subject = 'teacher' (singular)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3282696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captain, as well as the players,  was  praised by the coach.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4078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4069080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players, together with their captain,  were  felicitated.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418381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subject = 'players' (plural)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8097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4864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3000" y="4855464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teacher, along with her students,  are  visiting the museum.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5204765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verb wrongly matches 'students'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6509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BF3E2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742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59984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Mentally delete everything between the commas — the sentence should still make grammatical sense with the verb you chose.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Amounts, Distances &amp; Time as a Single Unit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subject expresses one quantity, sum, distance, or period of time thought of as ONE unit (not many separate items), use a SINGULAR verb.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054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496312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hundred rupees  is  not enough for this.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845613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sum of money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3282696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kilometres  is  a long distance to walk.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631997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distance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4078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4069080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minutes  is  enough time for the test.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418381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time span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8097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4864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43000" y="4855464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hundred rupees  are  not enough for this.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5204765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treated as one amount, not separate coins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6509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BF3E2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742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59984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subject refers to individual, countable items rather than one combined amount, use a plural verb instead — see Rule 13 for fractions.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Fractions &amp; Percentages ('...of the...')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fractions or percentages (half of, two-thirds of, 60% of), look at the noun AFTER 'of': an uncountable/singular noun takes a SINGULAR verb; a countable plural noun takes a PLURAL verb.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054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496312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Two-thirds of the work  is  done.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845613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'work' is uncountable → singular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3282696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Two-thirds of the students  are  present.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631997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'students' is countable plural → plural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4078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4069080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Fifty percent of the fruit  was  rotten.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418381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'fruit' singular here → singular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8097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4864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43000" y="4855464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Two-thirds of the work  are  done.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5204765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'work' cannot be counted, so it stays singular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6509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BF3E2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742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59984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fraction/percentage and 'of' — whatever verb agrees with the noun that remains is the correct one.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'There Is' / 'There Are'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sentences beginning with "There", the word "there" is NOT the subject. Find the real subject that follows the verb, then match the verb to it.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054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496312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 is  a book on the table.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845613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subject = 'a book' (singular)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3282696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 are  many books on the table.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631997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subject = 'many books' (plural)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4078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4069080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 were  fifteen mangoes in the basket.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8097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4864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3000" y="4855464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 is  many books on the table.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5204765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real subject 'books' is plural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6509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BF3E2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742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59984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Cross out 'there'. Step 2: Identify the noun performing the action. Step 3: Match the verb to that noun.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Inverted Sentences (Subject After the Verb)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sentences place the subject AFTER the verb for stylistic effect — often starting with a place or direction. Find the true subject before choosing the verb.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054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496312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wall  hang  two paintings.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845613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subject = 'two paintings' (plural)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3282696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the street  comes  a noisy procession.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631997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subject = 'a procession' (singular)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4078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4069080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 come  the winners of the quiz.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418381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subject = 'the winners' (plural)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8097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4864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43000" y="4855464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wall  hangs  two paintings.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5204765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real subject 'paintings' is plural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6509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BF3E2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742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59984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logic as Rule 14, just without the word 'there' — always locate the true subject first.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'One of the + Plural Noun' Is Still Singular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pattern "one of the (plural noun)", the real subject is "one" — so the verb must be SINGULAR, no matter how long the plural noun phrase is.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054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496312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students  has  lost his bag.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3697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3282696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my friends  lives  in Jaipur.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4078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4069080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mangoes  is  rotten.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097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4864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4855464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students  have  lost his bag.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5204765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'one', not 'students', is the subject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6509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BF3E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742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9984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this with Rule 17: "one of the girls WHO PLAY well" — inside the WHO-clause, the verb agrees with 'girls', not 'one'.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 + Relative Clause ('Who / Which / That')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relative clause introduced by who, which, or that, the verb agrees with the ANTECEDENT (the noun the clause describes) — not with the main subject of the sentence.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054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496312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one of the girls who  play  well.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845613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'who' refers to 'girls' (plural) → play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3282696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 the only one of the boys who  plays  well.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631997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'who' refers to 'the only one' (singular) → plays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4078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4069080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one of the books that  are  kept in the library.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418381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'that' refers to 'books' (plural)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8097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4864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43000" y="4855464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one of the girls who  plays  well.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5204765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'who' refers to 'girls', a plural antecedent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6509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BF3E2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742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59984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which noun does 'who/which/that' point back to? Match the verb to that noun, not to the sentence's main subject.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Titles, Names of Countries &amp; Single Entities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title of a book, film, or play, and the name of a country or organisation, is treated as ONE single entity — it takes a SINGULAR verb even if the words look plural.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054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496312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'Two States'  is  a popular novel.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845613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book title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3282696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United States  has  a strong economy.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631997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country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4078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4069080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Avengers'  is  releasing this Friday.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418381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film title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8097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4864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43000" y="4855464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'Two States'  are  a popular novel.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5204765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the title names ONE book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6509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BF3E2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742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59984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and country names function as single proper nouns, not as a count of the individual words within them.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'A Number of' vs 'The Number of'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number of" means "several/many" and takes a PLURAL verb. "The Number of" refers to a specific total/figure and takes a SINGULAR verb.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054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496312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of students  are  absent today.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845613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number of' = several → plural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3282696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absentees  is  rising every day.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631997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number of' = one figure → singular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4078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4069080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of complaints  have  been received.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8097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4864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3000" y="4855464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absentees  are  rising every day.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5204765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'the number' itself is the singular subject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6509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BF3E2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742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TEST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59984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phrase mentally: 'a number of' ≈ 'many' (plural); 'the number of' ≈ 'the total' (singular).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Gerunds and Infinitives as the Subject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3A4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-ing form (gerund) or a 'to + verb' (infinitive) phrase acts as the subject of a sentence, it is treated as SINGULAR, even if it mentions plural things.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054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496312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video games  is  his favourite pastime.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3697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3282696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win medals  requires  years of hard practice.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4078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4069080"/>
            <a:ext cx="10287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stamps  was  a popular hobby in the past.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0974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BEAEA"/>
          </a:solidFill>
          <a:ln/>
          <a:effectLst>
            <a:outerShdw sx="100000" sy="100000" kx="0" ky="0" algn="bl" rotWithShape="0" blurRad="76200" dist="25400" dir="5400000">
              <a:srgbClr val="888888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4864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4855464"/>
            <a:ext cx="1028700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video games  are  his favourite pastime.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5204765"/>
            <a:ext cx="1028700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the gerund phrase is one activity → singular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6509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BF3E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742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9984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gerund or infinitive phrase names ONE activity or action as a whole, so it always pairs with a singular verb.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A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1–10 at a Glance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36192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141D3D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82496"/>
            <a:ext cx="384048" cy="384048"/>
          </a:xfrm>
          <a:prstGeom prst="ellipse">
            <a:avLst/>
          </a:prstGeom>
          <a:solidFill>
            <a:srgbClr val="C9A23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1609344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E4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subjects joined by 'and' → plural verb.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355080" y="1536192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141D3D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1682496"/>
            <a:ext cx="384048" cy="384048"/>
          </a:xfrm>
          <a:prstGeom prst="ellipse">
            <a:avLst/>
          </a:prstGeom>
          <a:solidFill>
            <a:srgbClr val="C9A237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13448" y="1609344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E4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'And' naming one combined idea → singular verb.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2505456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141D3D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651760"/>
            <a:ext cx="384048" cy="384048"/>
          </a:xfrm>
          <a:prstGeom prst="ellipse">
            <a:avLst/>
          </a:prstGeom>
          <a:solidFill>
            <a:srgbClr val="C9A237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07008" y="2578608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E4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'Each/Every' before a compound subject → singular.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355080" y="2505456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141D3D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2651760"/>
            <a:ext cx="384048" cy="384048"/>
          </a:xfrm>
          <a:prstGeom prst="ellipse">
            <a:avLst/>
          </a:prstGeom>
          <a:solidFill>
            <a:srgbClr val="C9A237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13448" y="2578608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E4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'Or/Nor' → verb agrees with the nearer subject.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141D3D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3621024"/>
            <a:ext cx="384048" cy="384048"/>
          </a:xfrm>
          <a:prstGeom prst="ellipse">
            <a:avLst/>
          </a:prstGeom>
          <a:solidFill>
            <a:srgbClr val="C9A237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07008" y="3547872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E4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'Either…or/Neither…nor' → nearer subject, watch person.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355080" y="347472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141D3D"/>
          </a:solidFill>
          <a:ln/>
        </p:spPr>
      </p:sp>
      <p:sp>
        <p:nvSpPr>
          <p:cNvPr id="27" name="Shape 25"/>
          <p:cNvSpPr/>
          <p:nvPr/>
        </p:nvSpPr>
        <p:spPr>
          <a:xfrm>
            <a:off x="6492240" y="3621024"/>
            <a:ext cx="384048" cy="384048"/>
          </a:xfrm>
          <a:prstGeom prst="ellipse">
            <a:avLst/>
          </a:prstGeom>
          <a:solidFill>
            <a:srgbClr val="C9A237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13448" y="3547872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E4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noun as one unit → singular verb.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48640" y="4443984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141D3D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" y="4590288"/>
            <a:ext cx="384048" cy="384048"/>
          </a:xfrm>
          <a:prstGeom prst="ellipse">
            <a:avLst/>
          </a:prstGeom>
          <a:solidFill>
            <a:srgbClr val="C9A237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07008" y="4517136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E4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noun as separate individuals → plural.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355080" y="4443984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141D3D"/>
          </a:solidFill>
          <a:ln/>
        </p:spPr>
      </p:sp>
      <p:sp>
        <p:nvSpPr>
          <p:cNvPr id="35" name="Shape 33"/>
          <p:cNvSpPr/>
          <p:nvPr/>
        </p:nvSpPr>
        <p:spPr>
          <a:xfrm>
            <a:off x="6492240" y="4590288"/>
            <a:ext cx="384048" cy="384048"/>
          </a:xfrm>
          <a:prstGeom prst="ellipse">
            <a:avLst/>
          </a:prstGeom>
          <a:solidFill>
            <a:srgbClr val="C9A237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13448" y="4517136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E4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Indefinite pronouns (each, everyone…) → always singular.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548640" y="5413248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141D3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" y="5559552"/>
            <a:ext cx="384048" cy="384048"/>
          </a:xfrm>
          <a:prstGeom prst="ellipse">
            <a:avLst/>
          </a:prstGeom>
          <a:solidFill>
            <a:srgbClr val="C9A237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5559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207008" y="5486400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E4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Plural-looking singular nouns (Mathematics, News) → singular.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6355080" y="5413248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141D3D"/>
          </a:solidFill>
          <a:ln/>
        </p:spPr>
      </p:sp>
      <p:sp>
        <p:nvSpPr>
          <p:cNvPr id="43" name="Shape 41"/>
          <p:cNvSpPr/>
          <p:nvPr/>
        </p:nvSpPr>
        <p:spPr>
          <a:xfrm>
            <a:off x="6492240" y="5559552"/>
            <a:ext cx="384048" cy="384048"/>
          </a:xfrm>
          <a:prstGeom prst="ellipse">
            <a:avLst/>
          </a:prstGeom>
          <a:solidFill>
            <a:srgbClr val="C9A237"/>
          </a:solidFill>
          <a:ln/>
        </p:spPr>
      </p:sp>
      <p:sp>
        <p:nvSpPr>
          <p:cNvPr id="44" name="Text 42"/>
          <p:cNvSpPr/>
          <p:nvPr/>
        </p:nvSpPr>
        <p:spPr>
          <a:xfrm>
            <a:off x="6492240" y="5559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013448" y="5486400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E4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plural pair-nouns (scissors, trousers) → always plural.</a:t>
            </a:r>
            <a:endParaRPr lang="en-US" sz="1080" dirty="0"/>
          </a:p>
        </p:txBody>
      </p:sp>
      <p:sp>
        <p:nvSpPr>
          <p:cNvPr id="46" name="Text 44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A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11–20 at a Glance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36192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141D3D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82496"/>
            <a:ext cx="384048" cy="384048"/>
          </a:xfrm>
          <a:prstGeom prst="ellipse">
            <a:avLst/>
          </a:prstGeom>
          <a:solidFill>
            <a:srgbClr val="C9A23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1609344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E4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Interrupting phrases (with, as well as) → ignore them.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355080" y="1536192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141D3D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1682496"/>
            <a:ext cx="384048" cy="384048"/>
          </a:xfrm>
          <a:prstGeom prst="ellipse">
            <a:avLst/>
          </a:prstGeom>
          <a:solidFill>
            <a:srgbClr val="C9A237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13448" y="1609344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E4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Amounts, distances, time as one unit → singular.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2505456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141D3D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651760"/>
            <a:ext cx="384048" cy="384048"/>
          </a:xfrm>
          <a:prstGeom prst="ellipse">
            <a:avLst/>
          </a:prstGeom>
          <a:solidFill>
            <a:srgbClr val="C9A237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07008" y="2578608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E4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Fractions/percentages → depends on the noun after 'of'.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355080" y="2505456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141D3D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2651760"/>
            <a:ext cx="384048" cy="384048"/>
          </a:xfrm>
          <a:prstGeom prst="ellipse">
            <a:avLst/>
          </a:prstGeom>
          <a:solidFill>
            <a:srgbClr val="C9A237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13448" y="2578608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E4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'There is/are' → agrees with the noun that follows.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141D3D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3621024"/>
            <a:ext cx="384048" cy="384048"/>
          </a:xfrm>
          <a:prstGeom prst="ellipse">
            <a:avLst/>
          </a:prstGeom>
          <a:solidFill>
            <a:srgbClr val="C9A237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07008" y="3547872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E4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sentences → find the real subject first.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355080" y="347472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141D3D"/>
          </a:solidFill>
          <a:ln/>
        </p:spPr>
      </p:sp>
      <p:sp>
        <p:nvSpPr>
          <p:cNvPr id="27" name="Shape 25"/>
          <p:cNvSpPr/>
          <p:nvPr/>
        </p:nvSpPr>
        <p:spPr>
          <a:xfrm>
            <a:off x="6492240" y="3621024"/>
            <a:ext cx="384048" cy="384048"/>
          </a:xfrm>
          <a:prstGeom prst="ellipse">
            <a:avLst/>
          </a:prstGeom>
          <a:solidFill>
            <a:srgbClr val="C9A237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13448" y="3547872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E4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'One of the + plural noun' → 'one' is the subject, singular.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48640" y="4443984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141D3D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" y="4590288"/>
            <a:ext cx="384048" cy="384048"/>
          </a:xfrm>
          <a:prstGeom prst="ellipse">
            <a:avLst/>
          </a:prstGeom>
          <a:solidFill>
            <a:srgbClr val="C9A237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07008" y="4517136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E4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clause (who/which/that) → agrees with antecedent.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355080" y="4443984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141D3D"/>
          </a:solidFill>
          <a:ln/>
        </p:spPr>
      </p:sp>
      <p:sp>
        <p:nvSpPr>
          <p:cNvPr id="35" name="Shape 33"/>
          <p:cNvSpPr/>
          <p:nvPr/>
        </p:nvSpPr>
        <p:spPr>
          <a:xfrm>
            <a:off x="6492240" y="4590288"/>
            <a:ext cx="384048" cy="384048"/>
          </a:xfrm>
          <a:prstGeom prst="ellipse">
            <a:avLst/>
          </a:prstGeom>
          <a:solidFill>
            <a:srgbClr val="C9A237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13448" y="4517136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E4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Titles/country names → single entity, singular verb.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548640" y="5413248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141D3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" y="5559552"/>
            <a:ext cx="384048" cy="384048"/>
          </a:xfrm>
          <a:prstGeom prst="ellipse">
            <a:avLst/>
          </a:prstGeom>
          <a:solidFill>
            <a:srgbClr val="C9A237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5559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207008" y="5486400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E4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number of' plural; 'the number of' singular.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6355080" y="5413248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141D3D"/>
          </a:solidFill>
          <a:ln/>
        </p:spPr>
      </p:sp>
      <p:sp>
        <p:nvSpPr>
          <p:cNvPr id="43" name="Shape 41"/>
          <p:cNvSpPr/>
          <p:nvPr/>
        </p:nvSpPr>
        <p:spPr>
          <a:xfrm>
            <a:off x="6492240" y="5559552"/>
            <a:ext cx="384048" cy="384048"/>
          </a:xfrm>
          <a:prstGeom prst="ellipse">
            <a:avLst/>
          </a:prstGeom>
          <a:solidFill>
            <a:srgbClr val="C9A237"/>
          </a:solidFill>
          <a:ln/>
        </p:spPr>
      </p:sp>
      <p:sp>
        <p:nvSpPr>
          <p:cNvPr id="44" name="Text 42"/>
          <p:cNvSpPr/>
          <p:nvPr/>
        </p:nvSpPr>
        <p:spPr>
          <a:xfrm>
            <a:off x="6492240" y="5559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013448" y="5486400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E4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Gerund/infinitive as subject → always singular.</a:t>
            </a:r>
            <a:endParaRPr lang="en-US" sz="1080" dirty="0"/>
          </a:p>
        </p:txBody>
      </p:sp>
      <p:sp>
        <p:nvSpPr>
          <p:cNvPr id="46" name="Text 44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TIME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— Part 1 (Rules 1–10)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each blank with the correct form of the verb given in brackets.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6F8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76272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Each boy and each girl ____ (receive) a certificate.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2103120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6F8FC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176272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Slow and steady ____ (win) the race.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99232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6F8F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7238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Either the teacher or the students ____ (know) the answer.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2999232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6F8FC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07238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Neither Rita nor I ____ (be) at fault.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95344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6F8F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68496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The jury ____ (be) divided over the verdict.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55080" y="3895344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6F8FC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968496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Everybody in the class ____ (want) to go on the trip.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791456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6F8F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864608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Mathematics ____ (be) not as hard as it looks.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4791456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6F8FC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864608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These scissors ____ (be) very old and blunt.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TIME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— Part 2 (Rules 11–20)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each blank with the correct form of the verb given in brackets.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6F8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76272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Principal, along with the teachers, ____ (attend) the seminar.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2103120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6F8FC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176272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Two hundred rupees ____ (be) too little for this book.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99232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6F8F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7238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Half of the mangoes ____ (be) rotten.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2999232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6F8FC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07238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There ____ (be) fifteen students absent today.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95344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6F8F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68496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Down the lane ____ (come) a group of singers.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55080" y="3895344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6F8FC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968496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One of the girls ____ (have) forgotten her bag.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791456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6F8F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864608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He is the only one of the boys who ____ (play) the violin.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4791456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6F8FC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864608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 number of students ____ (be) waiting outside.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TIME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 — Part 1 (Rules 1–10)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5349240" cy="969264"/>
          </a:xfrm>
          <a:prstGeom prst="roundRect">
            <a:avLst>
              <a:gd name="adj" fmla="val 6604"/>
            </a:avLst>
          </a:prstGeom>
          <a:solidFill>
            <a:srgbClr val="EAF3EC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64792"/>
            <a:ext cx="4946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Each boy and each girl  </a:t>
            </a:r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2240280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3: 'each' forces singular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349240" cy="969264"/>
          </a:xfrm>
          <a:prstGeom prst="roundRect">
            <a:avLst>
              <a:gd name="adj" fmla="val 6604"/>
            </a:avLst>
          </a:prstGeom>
          <a:solidFill>
            <a:srgbClr val="EAF3EC"/>
          </a:solidFill>
          <a:ln/>
        </p:spPr>
      </p:sp>
      <p:sp>
        <p:nvSpPr>
          <p:cNvPr id="10" name="Text 8"/>
          <p:cNvSpPr/>
          <p:nvPr/>
        </p:nvSpPr>
        <p:spPr>
          <a:xfrm>
            <a:off x="6556248" y="1764792"/>
            <a:ext cx="4946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Slow and steady  </a:t>
            </a:r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56248" y="2240280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one combined idea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48640" y="2825496"/>
            <a:ext cx="5349240" cy="969264"/>
          </a:xfrm>
          <a:prstGeom prst="roundRect">
            <a:avLst>
              <a:gd name="adj" fmla="val 6604"/>
            </a:avLst>
          </a:prstGeom>
          <a:solidFill>
            <a:srgbClr val="EAF3EC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898648"/>
            <a:ext cx="4946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Either the teacher or the students  </a:t>
            </a:r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49808" y="337413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4: nearer subject 'students'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355080" y="2825496"/>
            <a:ext cx="5349240" cy="969264"/>
          </a:xfrm>
          <a:prstGeom prst="roundRect">
            <a:avLst>
              <a:gd name="adj" fmla="val 6604"/>
            </a:avLst>
          </a:prstGeom>
          <a:solidFill>
            <a:srgbClr val="EAF3EC"/>
          </a:solidFill>
          <a:ln/>
        </p:spPr>
      </p:sp>
      <p:sp>
        <p:nvSpPr>
          <p:cNvPr id="16" name="Text 14"/>
          <p:cNvSpPr/>
          <p:nvPr/>
        </p:nvSpPr>
        <p:spPr>
          <a:xfrm>
            <a:off x="6556248" y="2898648"/>
            <a:ext cx="4946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Neither Rita nor I  </a:t>
            </a:r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56248" y="337413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5: nearer subject 'I'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548640" y="3959352"/>
            <a:ext cx="5349240" cy="969264"/>
          </a:xfrm>
          <a:prstGeom prst="roundRect">
            <a:avLst>
              <a:gd name="adj" fmla="val 6604"/>
            </a:avLst>
          </a:prstGeom>
          <a:solidFill>
            <a:srgbClr val="EAF3EC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032504"/>
            <a:ext cx="4946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The jury  </a:t>
            </a:r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49808" y="4507992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7: members disagreeing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355080" y="3959352"/>
            <a:ext cx="5349240" cy="969264"/>
          </a:xfrm>
          <a:prstGeom prst="roundRect">
            <a:avLst>
              <a:gd name="adj" fmla="val 6604"/>
            </a:avLst>
          </a:prstGeom>
          <a:solidFill>
            <a:srgbClr val="EAF3EC"/>
          </a:solidFill>
          <a:ln/>
        </p:spPr>
      </p:sp>
      <p:sp>
        <p:nvSpPr>
          <p:cNvPr id="22" name="Text 20"/>
          <p:cNvSpPr/>
          <p:nvPr/>
        </p:nvSpPr>
        <p:spPr>
          <a:xfrm>
            <a:off x="6556248" y="4032504"/>
            <a:ext cx="4946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Everybody in the class  </a:t>
            </a:r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56248" y="4507992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8: indefinite pronoun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548640" y="5093208"/>
            <a:ext cx="5349240" cy="969264"/>
          </a:xfrm>
          <a:prstGeom prst="roundRect">
            <a:avLst>
              <a:gd name="adj" fmla="val 6604"/>
            </a:avLst>
          </a:prstGeom>
          <a:solidFill>
            <a:srgbClr val="EAF3EC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5166360"/>
            <a:ext cx="4946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Mathematics  </a:t>
            </a:r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9808" y="5641848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9: single subject of study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6355080" y="5093208"/>
            <a:ext cx="5349240" cy="969264"/>
          </a:xfrm>
          <a:prstGeom prst="roundRect">
            <a:avLst>
              <a:gd name="adj" fmla="val 6604"/>
            </a:avLst>
          </a:prstGeom>
          <a:solidFill>
            <a:srgbClr val="EAF3EC"/>
          </a:solidFill>
          <a:ln/>
        </p:spPr>
      </p:sp>
      <p:sp>
        <p:nvSpPr>
          <p:cNvPr id="28" name="Text 26"/>
          <p:cNvSpPr/>
          <p:nvPr/>
        </p:nvSpPr>
        <p:spPr>
          <a:xfrm>
            <a:off x="6556248" y="5166360"/>
            <a:ext cx="4946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These scissors  </a:t>
            </a:r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56248" y="5641848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10: true plural noun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TIME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 — Part 2 (Rules 11–20)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005840" cy="0"/>
          </a:xfrm>
          <a:prstGeom prst="line">
            <a:avLst/>
          </a:prstGeom>
          <a:noFill/>
          <a:ln w="38100">
            <a:solidFill>
              <a:srgbClr val="C9A2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5349240" cy="969264"/>
          </a:xfrm>
          <a:prstGeom prst="roundRect">
            <a:avLst>
              <a:gd name="adj" fmla="val 6604"/>
            </a:avLst>
          </a:prstGeom>
          <a:solidFill>
            <a:srgbClr val="EAF3EC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64792"/>
            <a:ext cx="4946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Principal, along with the teachers,  </a:t>
            </a:r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2240280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11: ignore the interrupting phrase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349240" cy="969264"/>
          </a:xfrm>
          <a:prstGeom prst="roundRect">
            <a:avLst>
              <a:gd name="adj" fmla="val 6604"/>
            </a:avLst>
          </a:prstGeom>
          <a:solidFill>
            <a:srgbClr val="EAF3EC"/>
          </a:solidFill>
          <a:ln/>
        </p:spPr>
      </p:sp>
      <p:sp>
        <p:nvSpPr>
          <p:cNvPr id="10" name="Text 8"/>
          <p:cNvSpPr/>
          <p:nvPr/>
        </p:nvSpPr>
        <p:spPr>
          <a:xfrm>
            <a:off x="6556248" y="1764792"/>
            <a:ext cx="4946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Two hundred rupees  </a:t>
            </a:r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56248" y="2240280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12: one sum of money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48640" y="2825496"/>
            <a:ext cx="5349240" cy="969264"/>
          </a:xfrm>
          <a:prstGeom prst="roundRect">
            <a:avLst>
              <a:gd name="adj" fmla="val 6604"/>
            </a:avLst>
          </a:prstGeom>
          <a:solidFill>
            <a:srgbClr val="EAF3EC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898648"/>
            <a:ext cx="4946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Half of the mangoes  </a:t>
            </a:r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49808" y="337413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13: 'mangoes' is countable plural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355080" y="2825496"/>
            <a:ext cx="5349240" cy="969264"/>
          </a:xfrm>
          <a:prstGeom prst="roundRect">
            <a:avLst>
              <a:gd name="adj" fmla="val 6604"/>
            </a:avLst>
          </a:prstGeom>
          <a:solidFill>
            <a:srgbClr val="EAF3EC"/>
          </a:solidFill>
          <a:ln/>
        </p:spPr>
      </p:sp>
      <p:sp>
        <p:nvSpPr>
          <p:cNvPr id="16" name="Text 14"/>
          <p:cNvSpPr/>
          <p:nvPr/>
        </p:nvSpPr>
        <p:spPr>
          <a:xfrm>
            <a:off x="6556248" y="2898648"/>
            <a:ext cx="4946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There  </a:t>
            </a:r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56248" y="337413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14: real subject 'students' is plural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548640" y="3959352"/>
            <a:ext cx="5349240" cy="969264"/>
          </a:xfrm>
          <a:prstGeom prst="roundRect">
            <a:avLst>
              <a:gd name="adj" fmla="val 6604"/>
            </a:avLst>
          </a:prstGeom>
          <a:solidFill>
            <a:srgbClr val="EAF3EC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032504"/>
            <a:ext cx="4946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Down the lane  </a:t>
            </a:r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49808" y="4507992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15: real subject 'a group' is singular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355080" y="3959352"/>
            <a:ext cx="5349240" cy="969264"/>
          </a:xfrm>
          <a:prstGeom prst="roundRect">
            <a:avLst>
              <a:gd name="adj" fmla="val 6604"/>
            </a:avLst>
          </a:prstGeom>
          <a:solidFill>
            <a:srgbClr val="EAF3EC"/>
          </a:solidFill>
          <a:ln/>
        </p:spPr>
      </p:sp>
      <p:sp>
        <p:nvSpPr>
          <p:cNvPr id="22" name="Text 20"/>
          <p:cNvSpPr/>
          <p:nvPr/>
        </p:nvSpPr>
        <p:spPr>
          <a:xfrm>
            <a:off x="6556248" y="4032504"/>
            <a:ext cx="4946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One of the girls  </a:t>
            </a:r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56248" y="4507992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16: 'one' is the true subject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548640" y="5093208"/>
            <a:ext cx="5349240" cy="969264"/>
          </a:xfrm>
          <a:prstGeom prst="roundRect">
            <a:avLst>
              <a:gd name="adj" fmla="val 6604"/>
            </a:avLst>
          </a:prstGeom>
          <a:solidFill>
            <a:srgbClr val="EAF3EC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5166360"/>
            <a:ext cx="4946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…the boys who  </a:t>
            </a:r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9808" y="5641848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17: 'who' refers to 'the only one'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6355080" y="5093208"/>
            <a:ext cx="5349240" cy="969264"/>
          </a:xfrm>
          <a:prstGeom prst="roundRect">
            <a:avLst>
              <a:gd name="adj" fmla="val 6604"/>
            </a:avLst>
          </a:prstGeom>
          <a:solidFill>
            <a:srgbClr val="EAF3EC"/>
          </a:solidFill>
          <a:ln/>
        </p:spPr>
      </p:sp>
      <p:sp>
        <p:nvSpPr>
          <p:cNvPr id="28" name="Text 26"/>
          <p:cNvSpPr/>
          <p:nvPr/>
        </p:nvSpPr>
        <p:spPr>
          <a:xfrm>
            <a:off x="6556248" y="5166360"/>
            <a:ext cx="4946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 number of students  </a:t>
            </a:r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56248" y="5641848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19: 'a number of' = several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A54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41D3D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4114800"/>
            <a:ext cx="5029200" cy="5029200"/>
          </a:xfrm>
          <a:prstGeom prst="ellipse">
            <a:avLst/>
          </a:prstGeom>
          <a:solidFill>
            <a:srgbClr val="141D3D"/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C9A237"/>
          </a:solidFill>
          <a:ln/>
        </p:spPr>
      </p:sp>
      <p:pic>
        <p:nvPicPr>
          <p:cNvPr id="6" name="Image 0" descr="/home/claude/sva_ppt/icons/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144" y="1700784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06324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Makes Perfect Agreement!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828800" y="388620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i="1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rules, one goal: read every sentence carefully,</a:t>
            </a:r>
            <a:endParaRPr lang="en-US" sz="15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00" i="1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true subject first, and the correct verb will follow.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394960" y="4846320"/>
            <a:ext cx="1371600" cy="0"/>
          </a:xfrm>
          <a:prstGeom prst="line">
            <a:avLst/>
          </a:prstGeom>
          <a:noFill/>
          <a:ln w="25400">
            <a:solidFill>
              <a:srgbClr val="C9A2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0" y="50749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C9A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Subject–Verb Agreement  |  CBSE Class X English Core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2026-07-13T11:57:39Z</dcterms:created>
  <dcterms:modified xsi:type="dcterms:W3CDTF">2026-07-13T11:57:39Z</dcterms:modified>
</cp:coreProperties>
</file>